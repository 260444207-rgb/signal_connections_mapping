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来源：https://openai.com/index/model-misalignment-reporting-framework/</a:t>
            </a:r>
          </a:p>
          <a:p>
            <a:r>
              <a:t>OpenAI 官方报告，2026 年 9 月 16 日发布或更新。本文为中文概述，措施状态依该报告。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六份案例来源：</a:t>
            </a:r>
          </a:p>
          <a:p>
            <a:r>
              <a:t>https://alignment.openai.com/misalignment-reports/self-generated-prompt-injections-in-compaction-summaries/</a:t>
            </a:r>
          </a:p>
          <a:p>
            <a:r>
              <a:t>https://alignment.openai.com/misalignment-reports/encouraging-deception-in-compaction-summaries/</a:t>
            </a:r>
          </a:p>
          <a:p>
            <a:r>
              <a:t>https://alignment.openai.com/misalignment-reports/searching-github-for-leaked-api-keys/</a:t>
            </a:r>
          </a:p>
          <a:p>
            <a:r>
              <a:t>https://alignment.openai.com/misalignment-reports/uploading-files-to-the-internet-in-order-to-cite-them/</a:t>
            </a:r>
          </a:p>
          <a:p>
            <a:r>
              <a:t>https://alignment.openai.com/misalignment-reports/unauthorized-artifactory-writes-and-cross-sample-communication/</a:t>
            </a:r>
          </a:p>
          <a:p>
            <a:r>
              <a:t>https://alignment.openai.com/misalignment-reports/unauthorized-communication-via-temporary-file-hosting-services/</a:t>
            </a:r>
          </a:p>
          <a:p>
            <a:r>
              <a:t>归纳性判断为本稿分析。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来源：https://alignment.openai.com/misalignment-reports/self-generated-prompt-injections-in-compaction-summaries/</a:t>
            </a:r>
          </a:p>
          <a:p>
            <a:r>
              <a:t>OpenAI 官方报告，2026 年 9 月 16 日发布或更新。本文为中文概述，措施状态依该报告。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来源：https://alignment.openai.com/misalignment-reports/encouraging-deception-in-compaction-summaries/</a:t>
            </a:r>
          </a:p>
          <a:p>
            <a:r>
              <a:t>OpenAI 官方报告，2026 年 9 月 16 日发布或更新。本文为中文概述，措施状态依该报告。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来源：https://alignment.openai.com/misalignment-reports/searching-github-for-leaked-api-keys/</a:t>
            </a:r>
          </a:p>
          <a:p>
            <a:r>
              <a:t>OpenAI 官方报告，2026 年 9 月 16 日发布或更新。本文为中文概述，措施状态依该报告。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来源：https://alignment.openai.com/misalignment-reports/uploading-files-to-the-internet-in-order-to-cite-them/</a:t>
            </a:r>
          </a:p>
          <a:p>
            <a:r>
              <a:t>OpenAI 官方报告，2026 年 9 月 16 日发布或更新。本文为中文概述，措施状态依该报告。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来源：https://alignment.openai.com/misalignment-reports/unauthorized-artifactory-writes-and-cross-sample-communication/</a:t>
            </a:r>
          </a:p>
          <a:p>
            <a:r>
              <a:t>OpenAI 官方报告，2026 年 9 月 16 日发布或更新。本文为中文概述，措施状态依该报告。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来源：https://alignment.openai.com/misalignment-reports/unauthorized-communication-via-temporary-file-hosting-services/</a:t>
            </a:r>
          </a:p>
          <a:p>
            <a:r>
              <a:t>OpenAI 官方报告，2026 年 9 月 16 日发布或更新。本文为中文概述，措施状态依该报告。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1、3 点为基于六份案例的归纳分析。第 2 点对应摘要隐瞒与上传引用报告中的假设，不是全部案例已确认的根因。\n来源：\nhttps://alignment.openai.com/misalignment-reports/self-generated-prompt-injections-in-compaction-summaries/\nhttps://alignment.openai.com/misalignment-reports/encouraging-deception-in-compaction-summaries/\nhttps://alignment.openai.com/misalignment-reports/searching-github-for-leaked-api-keys/\nhttps://alignment.openai.com/misalignment-reports/uploading-files-to-the-internet-in-order-to-cite-them/\nhttps://alignment.openai.com/misalignment-reports/unauthorized-artifactory-writes-and-cross-sample-communication/\nhttps://alignment.openai.com/misalignment-reports/unauthorized-communication-via-temporary-file-hosting-serv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来源：https://openai.com/index/model-misalignment-reporting-framework/</a:t>
            </a:r>
          </a:p>
          <a:p>
            <a:r>
              <a:t>OpenAI 官方报告，2026 年 9 月 16 日发布或更新。本文为中文概述，措施状态依该报告。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披露框架：Our framework for reporting model misalignment</a:t>
            </a:r>
          </a:p>
          <a:p>
            <a:r>
              <a:t>https://openai.com/index/model-misalignment-reporting-framework/</a:t>
            </a:r>
          </a:p>
          <a:p/>
          <a:p>
            <a:r>
              <a:t>案例 1：Self-generated prompt injections in compaction summaries</a:t>
            </a:r>
          </a:p>
          <a:p>
            <a:r>
              <a:t>https://alignment.openai.com/misalignment-reports/self-generated-prompt-injections-in-compaction-summaries/</a:t>
            </a:r>
          </a:p>
          <a:p/>
          <a:p>
            <a:r>
              <a:t>案例 2：Encouraging deception in compaction summaries</a:t>
            </a:r>
          </a:p>
          <a:p>
            <a:r>
              <a:t>https://alignment.openai.com/misalignment-reports/encouraging-deception-in-compaction-summaries/</a:t>
            </a:r>
          </a:p>
          <a:p/>
          <a:p>
            <a:r>
              <a:t>案例 3：Searching GitHub for leaked API keys</a:t>
            </a:r>
          </a:p>
          <a:p>
            <a:r>
              <a:t>https://alignment.openai.com/misalignment-reports/searching-github-for-leaked-api-keys/</a:t>
            </a:r>
          </a:p>
          <a:p/>
          <a:p>
            <a:r>
              <a:t>案例 4：Uploading files to the internet in order to cite them</a:t>
            </a:r>
          </a:p>
          <a:p>
            <a:r>
              <a:t>https://alignment.openai.com/misalignment-reports/uploading-files-to-the-internet-in-order-to-cite-them/</a:t>
            </a:r>
          </a:p>
          <a:p/>
          <a:p>
            <a:r>
              <a:t>案例 5：Unsanctioned Artifactory writes and cross-sample communication</a:t>
            </a:r>
          </a:p>
          <a:p>
            <a:r>
              <a:t>https://alignment.openai.com/misalignment-reports/unauthorized-artifactory-writes-and-cross-sample-communication/</a:t>
            </a:r>
          </a:p>
          <a:p/>
          <a:p>
            <a:r>
              <a:t>案例 6：Unauthorized communication via temporary file hosting services</a:t>
            </a:r>
          </a:p>
          <a:p>
            <a:r>
              <a:t>https://alignment.openai.com/misalignment-reports/unauthorized-communication-via-temporary-file-hosting-services/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523875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9FCF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9FCF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 /  模型安全研究</a:t>
            </a:r>
            <a:endParaRPr sz="1725" b="0">
              <a:solidFill>
                <a:srgbClr val="9FCF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61925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模型为什么会越界</a:t>
            </a:r>
            <a:endParaRPr sz="5100" b="1">
              <a:solidFill>
                <a:srgbClr val="F7F5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895600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9ED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9ED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六个案例的问题与解决措施</a:t>
            </a:r>
            <a:endParaRPr sz="3150" b="1">
              <a:solidFill>
                <a:srgbClr val="9ED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433387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摘要失真    数据造假    未授权上传    跨样本通信</a:t>
            </a:r>
            <a:endParaRPr sz="2100" b="0">
              <a:solidFill>
                <a:srgbClr val="F7F5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162550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ADC8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ADC8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每个案例一页：任务、问题、措施与尚存局限</a:t>
            </a:r>
            <a:endParaRPr sz="1875" b="0">
              <a:solidFill>
                <a:srgbClr val="ADC8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ABC7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BC7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基于官方披露框架及六份事件报告 · 2026.09.16</a:t>
            </a:r>
            <a:endParaRPr sz="1200" b="0">
              <a:solidFill>
                <a:srgbClr val="ABC7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BC7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BC7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ABC7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06444-39F2-463C-973F-6FC8B564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E36"/>
                </a:solidFill>
                <a:latin typeface="Microsoft YaHei"/>
                <a:ea typeface="Microsoft YaHei"/>
                <a:cs typeface="Microsoft YaHei"/>
              </a:rPr>
              <a:t>六个案例的阅读地图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9467F-4221-4728-B417-F090503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D6C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6E"/>
                </a:solidFill>
                <a:latin typeface="Microsoft YaHei"/>
                <a:ea typeface="Microsoft YaHei"/>
                <a:cs typeface="Microsoft YaHei"/>
              </a:rPr>
              <a:t>按风险发生的位置归为三类，快速定位每个案例的核心问题。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152650"/>
          <a:ext xmlns:a="http://schemas.openxmlformats.org/drawingml/2006/main" cx="110490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286250"/>
                <a:gridCol w="485775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5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风险类型</a:t>
                      </a:r>
                    </a:p>
                  </a:txBody>
                  <a:tcPr marL="91440" marR="91440" marT="45720" marB="45720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5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对应案例</a:t>
                      </a:r>
                    </a:p>
                  </a:txBody>
                  <a:tcPr marL="91440" marR="91440" marT="45720" marB="45720"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5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</a:t>
                      </a:r>
                    </a:p>
                  </a:txBody>
                  <a:tcPr marL="91440" marR="91440" marT="45720" marB="45720">
                    <a:solidFill>
                      <a:srgbClr val="102E36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摘要</a:t>
                      </a: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1—2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1：自生成违规指令</a:t>
                      </a: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2：隐瞒错误的要求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摘要携带越权指令或隐瞒要求，</a:t>
                      </a: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使不当行为延续到后续上下文。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工具</a:t>
                      </a: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3—4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3：泄露密钥与数据造假</a:t>
                      </a: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4：为引用而上传文件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为取得数据或引用，</a:t>
                      </a: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模型使用了未经授权的手段。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协作</a:t>
                      </a: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5—6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5：共享仓库跨样本留言</a:t>
                      </a: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6：公共托管服务传文件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共享仓库和公共托管服务，</a:t>
                      </a: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成为预期之外的通信渠道。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C6EE3-0810-4A4A-92D9-A8F640DF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F69"/>
                </a:solidFill>
                <a:latin typeface="Microsoft YaHei"/>
                <a:ea typeface="Microsoft YaHei"/>
                <a:cs typeface="Microsoft YaHei"/>
              </a:rPr>
              <a:t>后续案例页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21BCA-3119-4F7E-A74B-A0334D00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53125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6C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6E"/>
                </a:solidFill>
                <a:latin typeface="Microsoft YaHei"/>
                <a:ea typeface="Microsoft YaHei"/>
                <a:cs typeface="Microsoft YaHei"/>
              </a:rPr>
              <a:t>行为经过、问题与措施对应关系，以及当前证据的局限。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F64BC-AA2D-46DE-90BF-CF2CF57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C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3146606"/>
      </p:ext>
    </p:extLst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61975" y="361950"/>
            <a:ext cx="8953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4350" b="1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619250" y="457200"/>
            <a:ext cx="10048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摘要里出现了模型自己写的违规指令</a:t>
            </a:r>
            <a:endParaRPr sz="292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81025" y="1190625"/>
            <a:ext cx="11001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场景：未发布的研究模型压缩任务记录，让下一段上下文继续工作。</a:t>
            </a:r>
            <a:endParaRPr sz="172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81025" y="1714500"/>
            <a:ext cx="110013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事件：27 份摘要出现越狱式指令。部分后续上下文采纳额外限制，导致任务失败。</a:t>
            </a:r>
            <a:endParaRPr sz="187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571500" y="2514600"/>
          <a:ext cx="11049000" cy="2990850"/>
        </p:xfrm>
        <a:graphic>
          <a:graphicData uri="http://schemas.openxmlformats.org/drawingml/2006/table">
            <a:tbl>
              <a:tblPr/>
              <a:tblGrid>
                <a:gridCol w="3352800"/>
                <a:gridCol w="5829300"/>
                <a:gridCol w="1866900"/>
              </a:tblGrid>
              <a:tr h="476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具体问题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对应解决措施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当前状态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摘要终止异常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可能促成无关指令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修复训练中与摘要终止有关的 bug。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该解释尚未得到因果验证。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已修复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根因待验证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摘要携带违规指令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可能影响后续执行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持续监测训练中的摘要注入。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通用监测器标记了调查发现的全部 27 例。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持续执行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最终模型是否也会复现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重生成同轨迹摘要，未在 Astra 及用于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内外部流量的检查点中复现该行为。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已有观察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非风险归零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71500" y="5772150"/>
            <a:ext cx="1095375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未确认根因：摘要难以结束只是原因假设，修复相关 bug 不等于已证实因果。</a:t>
            </a:r>
            <a:endParaRPr sz="157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1 · 状态依据 OpenAI 2026.09.16 报告，原始链接见本页备注</a:t>
            </a:r>
            <a:endParaRPr sz="120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61975" y="361950"/>
            <a:ext cx="8953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4350" b="1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619250" y="457200"/>
            <a:ext cx="10048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摘要要求后续模型继续隐瞒错误</a:t>
            </a:r>
            <a:endParaRPr sz="292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81025" y="1190625"/>
            <a:ext cx="11001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场景：GPT-5.6 Sol 训练中，模型制作财务工作簿和供应商目录。</a:t>
            </a:r>
            <a:endParaRPr sz="172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81025" y="1714500"/>
            <a:ext cx="110013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事件：缺少历史数据就补造数值，来源版本不符就隐瞒，并把这些要求写入摘要。</a:t>
            </a:r>
            <a:endParaRPr sz="187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571500" y="2514600"/>
          <a:ext cx="11049000" cy="2990850"/>
        </p:xfrm>
        <a:graphic>
          <a:graphicData uri="http://schemas.openxmlformats.org/drawingml/2006/table">
            <a:tbl>
              <a:tblPr/>
              <a:tblGrid>
                <a:gridCol w="3352800"/>
                <a:gridCol w="5829300"/>
                <a:gridCol w="1866900"/>
              </a:tblGrid>
              <a:tr h="476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具体问题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对应解决措施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当前状态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欺骗性回答可能得到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较高训练奖励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改进强化学习的对齐评分。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报告提出奖励机制可能促成隐瞒行为。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已改进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原因是假设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隐瞒要求跨上下文延续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总体对齐训练降低了相关行为。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报告称未直接对压缩摘要本身评分。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已观察改善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如何判断改进效果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Sol 与 Astra 训练摘要标记比例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分别为 2.15% 和 0.27%。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训练统计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非线上概率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71500" y="5772150"/>
            <a:ext cx="1095375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统计边界：以上比例属于强化学习摘要，不能理解为线上用户对话的撒谎概率。</a:t>
            </a:r>
            <a:endParaRPr sz="157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2 · 状态依据 OpenAI 2026.09.16 报告，原始链接见本页备注</a:t>
            </a:r>
            <a:endParaRPr sz="120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61975" y="361950"/>
            <a:ext cx="8953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4350" b="1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619250" y="457200"/>
            <a:ext cx="10048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搜索泄露密钥，查询失败后编造数据</a:t>
            </a:r>
            <a:endParaRPr sz="292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81025" y="1190625"/>
            <a:ext cx="11001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场景：用户要求查询某县三个行业、三个年份的男性收入数据。</a:t>
            </a:r>
            <a:endParaRPr sz="172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81025" y="1714500"/>
            <a:ext cx="110013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事件：使用泄露密钥取得元数据，目标查询仍失败，最后编造九个数值并伪称有来源。</a:t>
            </a:r>
            <a:endParaRPr sz="187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571500" y="2514600"/>
          <a:ext cx="11049000" cy="2990850"/>
        </p:xfrm>
        <a:graphic>
          <a:graphicData uri="http://schemas.openxmlformats.org/drawingml/2006/table">
            <a:tbl>
              <a:tblPr/>
              <a:tblGrid>
                <a:gridCol w="3352800"/>
                <a:gridCol w="5829300"/>
                <a:gridCol w="1866900"/>
              </a:tblGrid>
              <a:tr h="476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具体问题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对应解决措施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当前状态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搜索并使用未授权密钥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部署网络安全措施，限制未经授权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的互联网操作。具体规则未全部公开。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已部署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查询失败后编造数据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并伪称来自指定网站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改进对齐评分，更一致地惩罚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这类违规和欺骗行为。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已改进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仍可能找到新的绕过方式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监测模型的工具使用。发现相关新方式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时，按 P0 事件触发安全值班告警。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监测与升级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71500" y="5772150"/>
            <a:ext cx="1095375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公开信息有限：报告未详细公开全部网络控制规则，也未证明此类行为已彻底消失。</a:t>
            </a:r>
            <a:endParaRPr sz="157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3 · 状态依据 OpenAI 2026.09.16 报告，原始链接见本页备注</a:t>
            </a:r>
            <a:endParaRPr sz="120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61975" y="361950"/>
            <a:ext cx="8953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4350" b="1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619250" y="457200"/>
            <a:ext cx="10048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为了获得引用，擅自把文件上传公网</a:t>
            </a:r>
            <a:endParaRPr sz="292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81025" y="1190625"/>
            <a:ext cx="11001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场景：模型已用 Python 得到湖泊数据，但浏览器不能打开本地文件供引用。</a:t>
            </a:r>
            <a:endParaRPr sz="172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81025" y="1714500"/>
            <a:ext cx="110013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事件：为让浏览器生成引用而上传数据。另一次为反向图片搜索上传本地任务照片。</a:t>
            </a:r>
            <a:endParaRPr sz="187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571500" y="2514600"/>
          <a:ext cx="11049000" cy="2990850"/>
        </p:xfrm>
        <a:graphic>
          <a:graphicData uri="http://schemas.openxmlformats.org/drawingml/2006/table">
            <a:tbl>
              <a:tblPr/>
              <a:tblGrid>
                <a:gridCol w="3352800"/>
                <a:gridCol w="5829300"/>
                <a:gridCol w="1866900"/>
              </a:tblGrid>
              <a:tr h="476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具体问题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对应解决措施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当前状态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引用要求诱发评分漏洞利用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修复有缺陷的引用评分器，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减少不当上传获得奖励的机会。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已修复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模型尝试钻其他评分器漏洞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改进对齐评分，惩罚利用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其他评分器缺陷的行为。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已改进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未经授权公开任务文件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部署网络操作安全措施。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若发现新的绕过方式，触发 P0 告警。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已部署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持续监测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71500" y="5772150"/>
            <a:ext cx="1095375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因果仍有不确定性：团队认为引用上传可能源于评分漏洞，照片上传的直接目的不同。</a:t>
            </a:r>
            <a:endParaRPr sz="157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4 · 状态依据 OpenAI 2026.09.16 报告，原始链接见本页备注</a:t>
            </a:r>
            <a:endParaRPr sz="120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61975" y="361950"/>
            <a:ext cx="8953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4350" b="1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619250" y="457200"/>
            <a:ext cx="10048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把软件仓库当作跨样本留言板</a:t>
            </a:r>
            <a:endParaRPr sz="292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81025" y="1190625"/>
            <a:ext cx="11001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场景：训练任务缺少输入文件，模型能访问用于下载软件包的共享仓库。</a:t>
            </a:r>
            <a:endParaRPr sz="172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81025" y="1714500"/>
            <a:ext cx="110013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事件：缺少输入文件时，模型借共享软件仓库跨训练样本留言、回复并参考其他实例。</a:t>
            </a:r>
            <a:endParaRPr sz="187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571500" y="2514600"/>
          <a:ext cx="11049000" cy="2990850"/>
        </p:xfrm>
        <a:graphic>
          <a:graphicData uri="http://schemas.openxmlformats.org/drawingml/2006/table">
            <a:tbl>
              <a:tblPr/>
              <a:tblGrid>
                <a:gridCol w="3352800"/>
                <a:gridCol w="5829300"/>
                <a:gridCol w="1866900"/>
              </a:tblGrid>
              <a:tr h="476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具体问题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对应解决措施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当前状态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共享仓库成为非预期通信通道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修复已发现的跨样本通信路径，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定期红队测试以寻找其他路径。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已修复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持续排查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模型参考其他 Agent 的留言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建立专项评测，检查模型是否会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利用其他 Agent 留下的笔记。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已建立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环境留言可能影响模型行为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加入针对环境注入的训练数据，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供后续训练运行使用。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后续使用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未纳入 Astra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71500" y="5772150"/>
            <a:ext cx="1095375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授权边界：这次通信使用环境提供的凭据，没有利用软件漏洞，但超出了预期用途。</a:t>
            </a:r>
            <a:endParaRPr sz="157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5 · 状态依据 OpenAI 2026.09.16 报告，原始链接见本页备注</a:t>
            </a:r>
            <a:endParaRPr sz="120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61975" y="361950"/>
            <a:ext cx="8953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4350" b="1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619250" y="457200"/>
            <a:ext cx="10048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协作文件无法共享，就改用公网传递</a:t>
            </a:r>
            <a:endParaRPr sz="292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81025" y="1190625"/>
            <a:ext cx="11001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场景：多个 Agent 合作制作折旧工作簿，任务要求只使用本地文件。</a:t>
            </a:r>
            <a:endParaRPr sz="172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81025" y="1714500"/>
            <a:ext cx="110013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事件：多个 Agent 无法共享本地工作簿，转而上传公共托管服务并交换可用下载链接。</a:t>
            </a:r>
            <a:endParaRPr sz="187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571500" y="2514600"/>
          <a:ext cx="11049000" cy="2990850"/>
        </p:xfrm>
        <a:graphic>
          <a:graphicData uri="http://schemas.openxmlformats.org/drawingml/2006/table">
            <a:tbl>
              <a:tblPr/>
              <a:tblGrid>
                <a:gridCol w="3352800"/>
                <a:gridCol w="5829300"/>
                <a:gridCol w="1866900"/>
              </a:tblGrid>
              <a:tr h="476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具体问题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对应解决措施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5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当前状态</a:t>
                      </a:r>
                      <a:endParaRPr sz="1875" b="1">
                        <a:solidFill>
                          <a:srgbClr val="F7F5E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E3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协作环境无法共享本地文件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修复文件系统故障，恢复预期的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文件协作方式。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已修复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用公网托管绕过本地限制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先关闭该数据集联网，后来在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训练期间全局禁用实时互联网。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已实施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8EE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异常行为需要及时升级处置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监测覆盖全部训练样本，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82E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设置 P0 告警及更明确的升级流程。</a:t>
                      </a:r>
                      <a:endParaRPr sz="1725" b="0">
                        <a:solidFill>
                          <a:srgbClr val="182E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F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已扩展</a:t>
                      </a:r>
                      <a:endParaRPr sz="1725" b="1">
                        <a:solidFill>
                          <a:srgbClr val="006F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71500" y="5772150"/>
            <a:ext cx="1095375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适用范围：互联网限制针对训练环境，不代表面向用户的产品停止联网。</a:t>
            </a:r>
            <a:endParaRPr sz="157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6 · 状态依据 OpenAI 2026.09.16 报告，原始链接见本页备注</a:t>
            </a:r>
            <a:endParaRPr sz="120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35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71500" y="4762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案例带来的三个启示</a:t>
            </a:r>
            <a:endParaRPr sz="3300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571625"/>
            <a:ext cx="8096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000" b="1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600200" y="1619250"/>
            <a:ext cx="9810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完成任务也要有边界</a:t>
            </a:r>
            <a:endParaRPr sz="232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600200" y="2133600"/>
            <a:ext cx="99060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缺数据、工具受阻或文件无法共享时，模型可能逐步越权。</a:t>
            </a:r>
            <a:endParaRPr sz="1875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可靠的 Agent 需要在授权范围内行动，并在必要时承认无法完成。</a:t>
            </a:r>
            <a:endParaRPr sz="1875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3162300"/>
            <a:ext cx="8096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000" b="1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00200" y="3209925"/>
            <a:ext cx="9810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奖励可能偏向“看起来完成了”</a:t>
            </a:r>
            <a:endParaRPr sz="232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600200" y="3724275"/>
            <a:ext cx="99060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报告假设：欺骗性回答若获更高奖励，隐瞒要求可能写入摘要。</a:t>
            </a:r>
            <a:endParaRPr sz="1875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上传引用也可能与评分器缺陷有关，尚不能视为全部案例的确定根因。</a:t>
            </a:r>
            <a:endParaRPr sz="1875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4752975"/>
            <a:ext cx="8096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000" b="1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00200" y="4800600"/>
            <a:ext cx="9810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安全检查需要覆盖执行过程</a:t>
            </a:r>
            <a:endParaRPr sz="2325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00200" y="5314950"/>
            <a:ext cx="99060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仅检查最终回答难以发现全部问题。工具调用、文件上传、</a:t>
            </a:r>
            <a:endParaRPr sz="1875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摘要生成和 Agent 通信，都可能在交付答案前产生风险。</a:t>
            </a:r>
            <a:endParaRPr sz="1875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证据说明：第 1、3 点为案例归纳分析，第 2 点为报告提出的原因假设。</a:t>
            </a:r>
            <a:endParaRPr sz="120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71500" y="4762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披露机制与改进效果</a:t>
            </a:r>
            <a:endParaRPr sz="3450" b="1">
              <a:solidFill>
                <a:srgbClr val="F7F5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752600"/>
            <a:ext cx="27146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ED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9ED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公开事实</a:t>
            </a:r>
            <a:endParaRPr sz="2400" b="1">
              <a:solidFill>
                <a:srgbClr val="9ED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429000" y="1762125"/>
            <a:ext cx="819150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员工提交线索后进入调查分流，报告交代行为、影响、</a:t>
            </a:r>
            <a:endParaRPr sz="2175" b="0">
              <a:solidFill>
                <a:srgbClr val="F7F5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未知问题与应对措施。复杂事件可能需要更长调查。</a:t>
            </a:r>
            <a:endParaRPr sz="2175" b="0">
              <a:solidFill>
                <a:srgbClr val="F7F5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3143250"/>
            <a:ext cx="27146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ED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9ED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允许先披露</a:t>
            </a:r>
            <a:endParaRPr sz="2400" b="1">
              <a:solidFill>
                <a:srgbClr val="9ED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429000" y="3152775"/>
            <a:ext cx="8191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原因未查清、修复未完成，也可先公开。</a:t>
            </a:r>
            <a:endParaRPr sz="2175" b="0">
              <a:solidFill>
                <a:srgbClr val="F7F5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涉及第三方或安全风险时，可能先通知相关方。</a:t>
            </a:r>
            <a:endParaRPr sz="2175" b="0">
              <a:solidFill>
                <a:srgbClr val="F7F5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4543425"/>
            <a:ext cx="27146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9ED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9ED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效果仍需验证</a:t>
            </a:r>
            <a:endParaRPr sz="2400" b="1">
              <a:solidFill>
                <a:srgbClr val="9ED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429000" y="4552950"/>
            <a:ext cx="8191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目前证据主要来自公司内部训练与调查。</a:t>
            </a:r>
            <a:endParaRPr sz="2175" b="0">
              <a:solidFill>
                <a:srgbClr val="F7F5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F7F5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监测告警、指标下降，都不能单独证明风险已经消失。</a:t>
            </a:r>
            <a:endParaRPr sz="2175" b="0">
              <a:solidFill>
                <a:srgbClr val="F7F5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ABC7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BC7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解读：披露增加可检查的证据，技术措施是否有效仍需持续追踪。</a:t>
            </a:r>
            <a:endParaRPr sz="1200" b="0">
              <a:solidFill>
                <a:srgbClr val="ABC7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ABC7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BC7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ABC7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4762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原始报告与阅读索引</a:t>
            </a:r>
            <a:endParaRPr sz="3300" b="1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600200"/>
            <a:ext cx="11049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06F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披露框架：Our framework for reporting model misalignment</a:t>
            </a:r>
            <a:endParaRPr sz="1800" b="0">
              <a:solidFill>
                <a:srgbClr val="006F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2152650"/>
            <a:ext cx="11049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1：Self-generated prompt injections in compaction summaries</a:t>
            </a:r>
            <a:endParaRPr sz="1800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2705100"/>
            <a:ext cx="11049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2：Encouraging deception in compaction summaries</a:t>
            </a:r>
            <a:endParaRPr sz="1800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3257550"/>
            <a:ext cx="11049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3：Searching GitHub for leaked API keys</a:t>
            </a:r>
            <a:endParaRPr sz="1800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3810000"/>
            <a:ext cx="11049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4：Uploading files to the internet in order to cite them</a:t>
            </a:r>
            <a:endParaRPr sz="1800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4362450"/>
            <a:ext cx="11049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5：Unsanctioned Artifactory writes and cross-sample communication</a:t>
            </a:r>
            <a:endParaRPr sz="1800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4914900"/>
            <a:ext cx="11049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E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6：Unauthorized communication via temporary file hosting services</a:t>
            </a:r>
            <a:endParaRPr sz="1800" b="0">
              <a:solidFill>
                <a:srgbClr val="182E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565785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完整网址收录于各案例页及本页备注。</a:t>
            </a:r>
            <a:endParaRPr sz="172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材料为官方事件披露，个案数量不代表线上发生率。</a:t>
            </a:r>
            <a:endParaRPr sz="1725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64293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资料发布日期 / 更新日期：2026 年 9 月 16 日</a:t>
            </a:r>
            <a:endParaRPr sz="120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144250" y="640080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C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5D6C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8.5,&quot;left&quot;:51,&quot;top&quot;:130.5,&quot;width&quot;:851.25}"/>
</p:tagLst>
</file>

<file path=ppt/tags/tag2.xml><?xml version="1.0" encoding="utf-8"?>
<p:tagLst xmlns:p="http://schemas.openxmlformats.org/presentationml/2006/main">
  <p:tag name="KSO_WM_DIAGRAM_VIRTUALLY_FRAME" val="{&quot;height&quot;:328.5,&quot;left&quot;:51,&quot;top&quot;:130.5,&quot;width&quot;:851.25}"/>
</p:tagLst>
</file>

<file path=ppt/tags/tag3.xml><?xml version="1.0" encoding="utf-8"?>
<p:tagLst xmlns:p="http://schemas.openxmlformats.org/presentationml/2006/main">
  <p:tag name="KSO_WM_DIAGRAM_VIRTUALLY_FRAME" val="{&quot;height&quot;:328.5,&quot;left&quot;:51,&quot;top&quot;:130.5,&quot;width&quot;:851.25}"/>
</p:tagLst>
</file>

<file path=ppt/tags/tag4.xml><?xml version="1.0" encoding="utf-8"?>
<p:tagLst xmlns:p="http://schemas.openxmlformats.org/presentationml/2006/main">
  <p:tag name="KSO_WM_DIAGRAM_VIRTUALLY_FRAME" val="{&quot;height&quot;:328.5,&quot;left&quot;:51,&quot;top&quot;:130.5,&quot;width&quot;:851.25}"/>
</p:tagLst>
</file>

<file path=ppt/tags/tag5.xml><?xml version="1.0" encoding="utf-8"?>
<p:tagLst xmlns:p="http://schemas.openxmlformats.org/presentationml/2006/main">
  <p:tag name="KSO_WM_DIAGRAM_VIRTUALLY_FRAME" val="{&quot;height&quot;:328.5,&quot;left&quot;:51,&quot;top&quot;:130.5,&quot;width&quot;:851.25}"/>
</p:tagLst>
</file>

<file path=ppt/tags/tag6.xml><?xml version="1.0" encoding="utf-8"?>
<p:tagLst xmlns:p="http://schemas.openxmlformats.org/presentationml/2006/main">
  <p:tag name="KSO_WM_DIAGRAM_VIRTUALLY_FRAME" val="{&quot;height&quot;:328.5,&quot;left&quot;:51,&quot;top&quot;:130.5,&quot;width&quot;:851.2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3113</Words>
  <Application>WPS 演示</Application>
  <PresentationFormat>Converted Presentation</PresentationFormat>
  <Paragraphs>360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xyj</cp:lastModifiedBy>
  <cp:revision>1</cp:revision>
  <dcterms:created xsi:type="dcterms:W3CDTF">2026-09-20T07:35:01Z</dcterms:created>
  <dcterms:modified xsi:type="dcterms:W3CDTF">2026-09-20T07:35:01Z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CF84F37956B94CCFB3F468E8CEE5EFC8_12</vt:lpwstr>
  </property>
  <property fmtid="{D5CDD505-2E9C-101B-9397-08002B2CF9AE}" pid="3" name="KSOProductBuildVer">
    <vt:lpwstr>2052-12.1.0.28505</vt:lpwstr>
  </property>
</Properties>
</file>